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333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1C2333"/>
                </a:solidFill>
                <a:latin typeface="Microsoft YaHei"/>
              </a:rPr>
              <a:t>邻道抑制 ACLR(dB,越高越好)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DPD</c:v>
                </c:pt>
              </c:strCache>
            </c:strRef>
          </c:tx>
          <c:spPr>
            <a:solidFill>
              <a:srgbClr val="A9B7D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DPA_160MHz</c:v>
                  </c:pt>
                  <c:pt idx="1">
                    <c:v>DPA_200MHz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34.5</c:v>
                </c:pt>
                <c:pt idx="1">
                  <c:v>30.6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本平台神经 DPD</c:v>
                </c:pt>
              </c:strCache>
            </c:strRef>
          </c:tx>
          <c:spPr>
            <a:solidFill>
              <a:srgbClr val="4F8FF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C2333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DPA_160MHz</c:v>
                  </c:pt>
                  <c:pt idx="1">
                    <c:v>DPA_200MHz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53.1</c:v>
                </c:pt>
                <c:pt idx="1">
                  <c:v>49.5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C2333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07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4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607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607A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padpd 是面向 RFIC/Analog IC 团队的 WiFi 7 PA + DPD 研发平台。本次汇报覆盖:为什么做、做出了什么、验证到什么程度、以及下一步需要的资源。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左侧是行业普遍痛点,右侧是本平台的定位。核心差异:把割裂的环节接成一条可互相印证的链路,并且把决策提前到流片之前。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这四个数字是平台的对外成绩单。右两项尤其重要:神经 TCN 首次在同等参数预算下超过工业金标准 GMP,而且更适合芯片落地。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左图:真实 PA 数据上,DPD 把邻道抑制提升约 19 dB,越过 52 dB 验收线,优于对标论文的 GRU 方案。右侧是更重要的方法学结论——评估方式选错会得出完全错误的结论,我们用实验把它钉死了。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五个环节都已实现并有自动化测试覆盖。关键在于它们共享数据接口和指标口径,所以上游的改动可以在下游立刻看到影响。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这三项是平台相对通用工具的差异化。共同点:都把原本靠经验或靠流片后返工解决的问题,变成了可量化、可提前决策的工程动作。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强调可用性与可维护性:非作者本人也能直接使用,硬件团队拿到的是经过逐位验证的交接物料。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这一页是给技术管理者看的:平台除了跑出数字,还沉淀了方法论。这些法则每一条都对应过真实的踩坑,避免团队重复付学费。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收尾要点:软件侧已经做到本环境的上限,继续产生价值需要 GPU、EDA 和硬件台架。平台的可替换接口设计意味着这些资源到位后能立刻见效,不存在重构成本。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12848"/>
            <a:ext cx="1691640" cy="1691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71800" y="2029968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padpd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2999232" y="287121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WiFi 7 功率放大器 + 数字预失真  AI 辅助研发平台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999232" y="338328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从电路仿真到硅前预判 · 从行为建模到 RTL 交付的全链路工程平台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2999232" y="4187952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999232" y="418795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 + 神经建模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138928" y="4187952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138928" y="418795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ILA / DLA / 自适应 DPD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278624" y="4187952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78624" y="418795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 · ONNX · RTL 交付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418320" y="4187952"/>
            <a:ext cx="1993392" cy="420624"/>
          </a:xfrm>
          <a:prstGeom prst="roundRect">
            <a:avLst>
              <a:gd name="adj" fmla="val 17391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418320" y="4187952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双版本图形界面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5870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2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管理层汇报  ·  研发进展总结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为什么做:效率与线性度的矛盾,在 WiFi 7 上被放大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 是射频链路里最耗电、最难线性化的一环;WiFi 7 的带宽与调制阶数把矛盾推到极限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138928" cy="1225296"/>
          </a:xfrm>
          <a:prstGeom prst="roundRect">
            <a:avLst>
              <a:gd name="adj" fmla="val 74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02536"/>
            <a:ext cx="512064" cy="512064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025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186537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带宽与调制双升级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81328" y="219456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320 MHz / 4096-QAM、约 10 dB 峰均比,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EVM 与邻道抑制的要求成倍提高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5138928" cy="1225296"/>
          </a:xfrm>
          <a:prstGeom prst="roundRect">
            <a:avLst>
              <a:gd name="adj" fmla="val 74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392424"/>
            <a:ext cx="512064" cy="512064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924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81328" y="325526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先设计、后补救的老流程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81328" y="35844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 冲效率进入不可逆区,DPD 事后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无论多大都救不回来 —— 成本浪费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425696"/>
            <a:ext cx="5138928" cy="1225296"/>
          </a:xfrm>
          <a:prstGeom prst="roundRect">
            <a:avLst>
              <a:gd name="adj" fmla="val 7463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82312"/>
            <a:ext cx="512064" cy="512064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7823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81328" y="4645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验证链路割裂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81328" y="4974336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电路仿真、行为建模、DPD、硬件部署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各用各的工具,结论无法互相印证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1645920"/>
            <a:ext cx="5449824" cy="4261104"/>
          </a:xfrm>
          <a:prstGeom prst="roundRect">
            <a:avLst>
              <a:gd name="adj" fmla="val 2575"/>
            </a:avLst>
          </a:prstGeom>
          <a:solidFill>
            <a:srgbClr val="0E1B3A"/>
          </a:solidFill>
          <a:ln w="12700">
            <a:solidFill>
              <a:srgbClr val="0E1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1883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平台给出的答案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10528" y="2478024"/>
            <a:ext cx="155448" cy="155448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23774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统一的数据与指标口径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839712" y="26517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EVM / ACLR / Mask 贯穿仿真、建模、DPD、部署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10528" y="3374136"/>
            <a:ext cx="155448" cy="155448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32735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与经典并置、可对比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839712" y="354787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神经模型与工业金标准 GMP 在同数据同指标下较量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10528" y="4270248"/>
            <a:ext cx="155448" cy="155448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41696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硅前就能回答关键问题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839712" y="44439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这颗 PA 配多大 DPD、退多少功率能过 spec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510528" y="5166360"/>
            <a:ext cx="155448" cy="155448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5065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产出可直接交付硬件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39712" y="53400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定点系数、ONNX、可综合 Verilog,逐位验证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核心成果:端到端指标全部达标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 WiFi 7 链路(320 MHz / 4096-QAM,虚拟 PA):DPD 前后对比,发射频谱模板由不合格转为合格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15184" cy="2395728"/>
          </a:xfrm>
          <a:prstGeom prst="roundRect">
            <a:avLst>
              <a:gd name="adj" fmla="val 3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92024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-19.0 → -64.2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3232" y="27432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31272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星座 EVM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34564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接收端解调误差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4136" y="1645920"/>
            <a:ext cx="2615184" cy="2395728"/>
          </a:xfrm>
          <a:prstGeom prst="roundRect">
            <a:avLst>
              <a:gd name="adj" fmla="val 3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2024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-31 → -66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3520440" y="27432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31272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邻道抑制 ACLR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34564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对邻道的干扰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1344" y="1645920"/>
            <a:ext cx="2615184" cy="2395728"/>
          </a:xfrm>
          <a:prstGeom prst="roundRect">
            <a:avLst>
              <a:gd name="adj" fmla="val 3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2024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FAIL → PASS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27648" y="27432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27648" y="31272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发射频谱模板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27648" y="34564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802.11 合规判定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88552" y="1645920"/>
            <a:ext cx="2615184" cy="2395728"/>
          </a:xfrm>
          <a:prstGeom prst="roundRect">
            <a:avLst>
              <a:gd name="adj" fmla="val 3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34856" y="192024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-34.9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9134856" y="2743200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34856" y="312724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 TCN 建模精度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34856" y="345643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首次超过经典金标准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352544"/>
            <a:ext cx="11027664" cy="1554480"/>
          </a:xfrm>
          <a:prstGeom prst="roundRect">
            <a:avLst>
              <a:gd name="adj" fmla="val 5882"/>
            </a:avLst>
          </a:prstGeom>
          <a:solidFill>
            <a:srgbClr val="0E1B3A"/>
          </a:solidFill>
          <a:ln w="12700">
            <a:solidFill>
              <a:srgbClr val="0E1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5537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三项工程判断,决定了后续所有选型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4400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 TCN 三项全赢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4400" y="53400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浮点最准、量化最稳、算力最省(448 次乘加/样本)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98848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低位宽下差距拉开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498848" y="53400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bit 定点:TCN -33.3 dB,多项式仅 -16.9 dB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83296" y="5029200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建模准 ≠ DPD 好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083296" y="5340096"/>
            <a:ext cx="3346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DDR 用 55% 参数,在 GaN PA 上领先 8.5 dB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可信度:在公开真实测量数据上对标国际基准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采用开源基准 OpenDPD 的三套实测 PA 数据与其论文口径,结果可横向比较、可复现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45920"/>
          <a:ext cx="6492240" cy="42793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645920"/>
            <a:ext cx="4279392" cy="2395728"/>
          </a:xfrm>
          <a:prstGeom prst="roundRect">
            <a:avLst>
              <a:gd name="adj" fmla="val 381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883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核心验证 · 评估方法学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589520" y="22494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 DPD,只更换评估代理模型: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89520" y="25968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-38.56 dBc</a:t>
            </a:r>
            <a:pPr indent="0" marL="0"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本平台神经代理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589520" y="30906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-38.80 dBc</a:t>
            </a:r>
            <a:pPr indent="0" marL="0">
              <a:buNone/>
            </a:pPr>
            <a:r>
              <a:rPr lang="en-US" sz="11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国际基准论文发表值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89520" y="3511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 0.24 dB —— 几乎逐位吻合,证明实现正确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315200" y="4261104"/>
            <a:ext cx="4279392" cy="1664208"/>
          </a:xfrm>
          <a:prstGeom prst="roundRect">
            <a:avLst>
              <a:gd name="adj" fmla="val 5495"/>
            </a:avLst>
          </a:prstGeom>
          <a:solidFill>
            <a:srgbClr val="0E1B3A"/>
          </a:solidFill>
          <a:ln w="12700">
            <a:solidFill>
              <a:srgbClr val="0E1B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4462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由此确立的方法学规范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589520" y="4809744"/>
            <a:ext cx="37490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用传统多项式代理评估同一个 DPD,读数偏差高达 12 dB。DPD 的验收评估必须使用神经代理 —— 这条规范已固化进平台流程。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平台能力:一条打通的研发链路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每一环都有可运行的实现与自动化验证,上下游用同一套数据接口与指标口径衔接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700784"/>
            <a:ext cx="2084832" cy="2670048"/>
          </a:xfrm>
          <a:prstGeom prst="roundRect">
            <a:avLst>
              <a:gd name="adj" fmla="val 43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35024" y="1975104"/>
            <a:ext cx="548640" cy="548640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5024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74320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电路仿真接入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1089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谐波平衡 / S 参数 / 包络瞬态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导入为行为模型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87752" y="28163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16352" y="1700784"/>
            <a:ext cx="2084832" cy="2670048"/>
          </a:xfrm>
          <a:prstGeom prst="roundRect">
            <a:avLst>
              <a:gd name="adj" fmla="val 43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84448" y="1975104"/>
            <a:ext cx="548640" cy="54864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274320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 行为建模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07792" y="31089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 Saleh·MP·GMP·DDR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 GRU·DGRU·TCN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37176" y="28163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065776" y="1700784"/>
            <a:ext cx="2084832" cy="2670048"/>
          </a:xfrm>
          <a:prstGeom prst="roundRect">
            <a:avLst>
              <a:gd name="adj" fmla="val 43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33872" y="1975104"/>
            <a:ext cx="548640" cy="548640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33872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5504" y="274320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 设计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57216" y="31089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ILA 经典 · DLA 神经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自适应在线跟踪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086600" y="28163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0" y="1700784"/>
            <a:ext cx="2084832" cy="2670048"/>
          </a:xfrm>
          <a:prstGeom prst="roundRect">
            <a:avLst>
              <a:gd name="adj" fmla="val 43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83296" y="1975104"/>
            <a:ext cx="548640" cy="54864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83296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24928" y="274320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硬件部署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06640" y="31089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定点位宽扫描 · ONNX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整数系数 · Verilog RTL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36024" y="2816352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9C6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64624" y="1700784"/>
            <a:ext cx="2084832" cy="2670048"/>
          </a:xfrm>
          <a:prstGeom prst="roundRect">
            <a:avLst>
              <a:gd name="adj" fmla="val 4386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32720" y="1975104"/>
            <a:ext cx="548640" cy="548640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0" y="1975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74352" y="2743200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系统验证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56064" y="3108960"/>
            <a:ext cx="1901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EVM · ACLR · 频谱模板</a:t>
            </a:r>
            <a:endParaRPr lang="en-US" sz="10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CCDF · AM-AM/AM-PM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6928" y="4626864"/>
            <a:ext cx="11027664" cy="1389888"/>
          </a:xfrm>
          <a:prstGeom prst="roundRect">
            <a:avLst>
              <a:gd name="adj" fmla="val 6579"/>
            </a:avLst>
          </a:prstGeom>
          <a:solidFill>
            <a:srgbClr val="0E1B3A"/>
          </a:solidFill>
          <a:ln w="12700">
            <a:solidFill>
              <a:srgbClr val="0E1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80974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链路闭环带来的直接收益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914400" y="51937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流片前给出结论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46811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这颗 PA 需要多大 DPD、退多少功率能过 spec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498848" y="51937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选型有据可依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98848" y="546811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同数据同指标下横向比较,不靠经验拍板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83296" y="5193792"/>
            <a:ext cx="334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产出直接进硬件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83296" y="5468112"/>
            <a:ext cx="33467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整数系数与 Verilog 已逐位验证,交接零返工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差异化能力:把决策提前,把风险后置到可控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三项能力回答了传统流程回答不了的问题 —— 流片前、量产中、以及效率与线性度如何取舍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547872" cy="4297680"/>
          </a:xfrm>
          <a:prstGeom prst="roundRect">
            <a:avLst>
              <a:gd name="adj" fmla="val 257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83664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83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硅前预判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双音记忆诊断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98064"/>
            <a:ext cx="30358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用电路仿真最容易给出的双音结果,在流片前判断 PA 记忆效应的强度,并换算成 DPD 需要预留的记忆深度与系数规模。硬件预算因此能在设计早期锁定,不必等实测回来再返工重排版图,省掉最昂贵的一次迭代。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4443984"/>
            <a:ext cx="303580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572000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闭环验证:预判的记忆深度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与实测最优拐点一致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06824" y="1645920"/>
            <a:ext cx="3547872" cy="4297680"/>
          </a:xfrm>
          <a:prstGeom prst="roundRect">
            <a:avLst>
              <a:gd name="adj" fmla="val 257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2856" y="1883664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883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现场硬化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62856" y="23957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自适应在线 DPD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62856" y="2798064"/>
            <a:ext cx="30358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产品在温度、供电与器件老化下持续漂移,出厂时标定好的固定系数会逐渐失效。自适应算法从环回观测持续更新系数,并提供三档不同成本与精度的实现方案,供硬件预算按需选择,兼顾芯片面积与量产良率。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62856" y="4443984"/>
            <a:ext cx="303580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4572000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满漂移工况领先冻结方案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10.4 dB EVM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1645920"/>
            <a:ext cx="3547872" cy="4297680"/>
          </a:xfrm>
          <a:prstGeom prst="roundRect">
            <a:avLst>
              <a:gd name="adj" fmla="val 2577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02752" y="1883664"/>
            <a:ext cx="1188720" cy="365760"/>
          </a:xfrm>
          <a:prstGeom prst="roundRect">
            <a:avLst>
              <a:gd name="adj" fmla="val 20000"/>
            </a:avLst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1883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联合优化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02752" y="2395728"/>
            <a:ext cx="3054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 / DPD 联合设计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02752" y="2798064"/>
            <a:ext cx="303580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PA 工作点与 DPD 复杂度作为一个联合问题统一求解,自动找到效率与线性度的最优平衡点,避免先冲效率、再用昂贵 DPD 补救的传统弯路,并明确标出不可逾越的物理边界,让取舍有据可依。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02752" y="4443984"/>
            <a:ext cx="3035808" cy="1316736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6DF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4572000"/>
            <a:ext cx="2834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同样达标前提下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9.1 个百分点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工程化程度:不是脚本集合,是可交付的产品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面向工程师日常使用与硬件团队交接而构建,非算法研究者专属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82496"/>
            <a:ext cx="5358384" cy="1335024"/>
          </a:xfrm>
          <a:prstGeom prst="roundRect">
            <a:avLst>
              <a:gd name="adj" fmla="val 684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130552"/>
            <a:ext cx="438912" cy="438912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26464" y="19568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双版本图形界面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26464" y="2304288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工作台(团队共享)+ 桌面版(免安装),8 个功能页同构,共享实验注册表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36208" y="1682496"/>
            <a:ext cx="5358384" cy="1335024"/>
          </a:xfrm>
          <a:prstGeom prst="roundRect">
            <a:avLst>
              <a:gd name="adj" fmla="val 684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0528" y="2130552"/>
            <a:ext cx="438912" cy="438912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130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95744" y="19568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开箱即用的分发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095744" y="2304288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单文件 exe 与免安装目录版,云端自动构建并做启动冒烟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200400"/>
            <a:ext cx="5358384" cy="1335024"/>
          </a:xfrm>
          <a:prstGeom prst="roundRect">
            <a:avLst>
              <a:gd name="adj" fmla="val 684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648456"/>
            <a:ext cx="438912" cy="438912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26464" y="34747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内置双语图文手册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26464" y="38221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 / 英各 8 章,随界面语言切换,覆盖入门到部署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3200400"/>
            <a:ext cx="5358384" cy="1335024"/>
          </a:xfrm>
          <a:prstGeom prst="roundRect">
            <a:avLst>
              <a:gd name="adj" fmla="val 6849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0528" y="3648456"/>
            <a:ext cx="438912" cy="438912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36484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95744" y="34747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自动化质量保障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095744" y="3822192"/>
            <a:ext cx="4315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 个测试函数、跨平台持续集成,每次改动自动回归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754880"/>
            <a:ext cx="11027664" cy="1188720"/>
          </a:xfrm>
          <a:prstGeom prst="roundRect">
            <a:avLst>
              <a:gd name="adj" fmla="val 7692"/>
            </a:avLst>
          </a:prstGeom>
          <a:solidFill>
            <a:srgbClr val="0E1B3A"/>
          </a:solidFill>
          <a:ln w="12700">
            <a:solidFill>
              <a:srgbClr val="0E1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9377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1.1 万行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22960" y="53766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代码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017520" y="49377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189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017520" y="53766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测试函数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212080" y="49377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+ 8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5212080" y="53766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功能页 / 手册章节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49377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406640" y="53766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打包分发形态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601200" y="4937760"/>
            <a:ext cx="2048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错误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601200" y="5376672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RTL 逐位验证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沉淀:四条经实证的工程法则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这些结论由平台的对照实验得出,可直接复用于后续项目,避免重复试错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929384"/>
            <a:ext cx="438912" cy="438912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经典模型必须用闭式最小二乘求解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7627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同一模型改用梯度训练,邻道抑制指标恶化 9 dB 以上。在线场景同理 —— 只有基于矩阵求解的算法稳定收敛。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76148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76148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1E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3026664"/>
            <a:ext cx="438912" cy="438912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3026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9260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DPD 评估必须使用神经代理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27355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多项式代理对带外频谱系统性外推失真,同一 DPD 读数可差 12 dB,足以导致错误的选型决策。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85876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2F5FA"/>
          </a:solidFill>
          <a:ln w="12700">
            <a:solidFill>
              <a:srgbClr val="F2F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4123944"/>
            <a:ext cx="438912" cy="438912"/>
          </a:xfrm>
          <a:prstGeom prst="ellipse">
            <a:avLst/>
          </a:prstGeom>
          <a:solidFill>
            <a:srgbClr val="4F8FF7"/>
          </a:solidFill>
          <a:ln w="12700">
            <a:solidFill>
              <a:srgbClr val="4F8F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02336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深压缩工作点必须先做削峰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43708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峰值进入 PA 不可逆区时 DPD 发散;削峰用有界的 EVM 代价换回可逆性,是过 spec 的前提。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95604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56048"/>
            <a:ext cx="11027664" cy="969264"/>
          </a:xfrm>
          <a:prstGeom prst="roundRect">
            <a:avLst>
              <a:gd name="adj" fmla="val 9434"/>
            </a:avLst>
          </a:prstGeom>
          <a:solidFill>
            <a:srgbClr val="FFFFFF"/>
          </a:solidFill>
          <a:ln w="12700">
            <a:solidFill>
              <a:srgbClr val="E1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9536" y="5221224"/>
            <a:ext cx="438912" cy="438912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5221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51206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效率与线性度存在突变壁垒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546811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越过可逆边界后,再大的 DPD 也无效。必须联合设计,不能先冲效率再补救。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053328"/>
            <a:ext cx="11027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60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每条结论都有对应的可复现脚本与自动化测试,是可以交给新同事直接沿用的团队资产。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276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现状与下一步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5214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C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软件侧能做的部分已全部完成;继续推进需要硬件与算力资源接入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C9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3504" y="2231136"/>
            <a:ext cx="137160" cy="13716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3969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经典与神经 PA 建模,真实数据对标国际基准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" y="2798064"/>
            <a:ext cx="137160" cy="13716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7066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ILA / DLA / 自适应三类 DPD,全部达标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" y="3364992"/>
            <a:ext cx="137160" cy="13716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7355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定点部署、ONNX、可综合 RTL,逐位验证通过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3504" y="3931920"/>
            <a:ext cx="137160" cy="13716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4048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PA/DPD 联合设计、硅前双音预判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" y="4498848"/>
            <a:ext cx="137160" cy="137160"/>
          </a:xfrm>
          <a:prstGeom prst="ellipse">
            <a:avLst/>
          </a:prstGeom>
          <a:solidFill>
            <a:srgbClr val="37C978"/>
          </a:solidFill>
          <a:ln w="12700">
            <a:solidFill>
              <a:srgbClr val="37C9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0740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双版本界面、exe 分发、双语手册、持续集成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09360" y="170078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8F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 · 需要的资源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2139696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22494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算力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267712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完成大容量神经模型长训练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(本地 4 核 CPU 已达上限)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145536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47104" y="32552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EDA 环境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273552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 Spectre 电路仿真回环,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用真实工艺库替换虚拟 PA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4151376"/>
            <a:ext cx="5285232" cy="914400"/>
          </a:xfrm>
          <a:prstGeom prst="roundRect">
            <a:avLst>
              <a:gd name="adj" fmla="val 8000"/>
            </a:avLst>
          </a:prstGeom>
          <a:solidFill>
            <a:srgbClr val="17274D"/>
          </a:solidFill>
          <a:ln w="12700">
            <a:solidFill>
              <a:srgbClr val="2E42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426110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硬件台架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4279392"/>
            <a:ext cx="3127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FPGA 上板与 SDR 实测,</a:t>
            </a:r>
            <a:endParaRPr lang="en-US" sz="1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RTL 与自适应链路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5358384"/>
            <a:ext cx="11027664" cy="950976"/>
          </a:xfrm>
          <a:prstGeom prst="roundRect">
            <a:avLst>
              <a:gd name="adj" fmla="val 9615"/>
            </a:avLst>
          </a:prstGeom>
          <a:solidFill>
            <a:srgbClr val="17274D"/>
          </a:solidFill>
          <a:ln w="12700">
            <a:solidFill>
              <a:srgbClr val="1727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522976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接口均已就绪 —— 上述三项资源到位后,可直接用现有脚本推进,无需重构。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585216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平台设计时即预留了数据源可替换、模型可替换的接口:虚拟 PA 换成真实仿真/实测数据后,下游代码零改动。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padpd — WiFi 7 PA + DPD AI 辅助研发平台</dc:title>
  <dc:subject>PptxGenJS Presentation</dc:subject>
  <dc:creator>padpd</dc:creator>
  <cp:lastModifiedBy>padpd</cp:lastModifiedBy>
  <cp:revision>1</cp:revision>
  <dcterms:created xsi:type="dcterms:W3CDTF">2026-08-04T12:19:16Z</dcterms:created>
  <dcterms:modified xsi:type="dcterms:W3CDTF">2026-08-04T12:19:16Z</dcterms:modified>
</cp:coreProperties>
</file>